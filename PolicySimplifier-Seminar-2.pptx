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2" r:id="rId6"/>
    <p:sldId id="264" r:id="rId7"/>
    <p:sldId id="261" r:id="rId8"/>
    <p:sldId id="270" r:id="rId9"/>
    <p:sldId id="269" r:id="rId10"/>
    <p:sldId id="266" r:id="rId11"/>
    <p:sldId id="267" r:id="rId12"/>
  </p:sldIdLst>
  <p:sldSz cx="9144000" cy="5143500" type="screen16x9"/>
  <p:notesSz cx="9144000" cy="5143500"/>
  <p:embeddedFontLst>
    <p:embeddedFont>
      <p:font typeface="Lustria" panose="020B0604020202020204" charset="0"/>
      <p:regular r:id="rId14"/>
    </p:embeddedFont>
    <p:embeddedFont>
      <p:font typeface="Titillium Web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157"/>
    <a:srgbClr val="1A2C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06594e0b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06594e0b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306594e0b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06594e0b0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06594e0b0_0_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306594e0b0_0_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06594e0b0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06594e0b0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306594e0b0_0_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306594e0b0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306594e0b0_0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306594e0b0_0_1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306594e0b0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306594e0b0_0_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306594e0b0_0_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D96AD73-C349-02ED-5E25-F0A34A1CC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306594e0b0_0_69:notes">
            <a:extLst>
              <a:ext uri="{FF2B5EF4-FFF2-40B4-BE49-F238E27FC236}">
                <a16:creationId xmlns:a16="http://schemas.microsoft.com/office/drawing/2014/main" id="{E9B49D35-F87A-7689-1A91-897B237B68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306594e0b0_0_69:notes">
            <a:extLst>
              <a:ext uri="{FF2B5EF4-FFF2-40B4-BE49-F238E27FC236}">
                <a16:creationId xmlns:a16="http://schemas.microsoft.com/office/drawing/2014/main" id="{2A7BECB6-D6E9-892F-2742-3545CB1C61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306594e0b0_0_69:notes">
            <a:extLst>
              <a:ext uri="{FF2B5EF4-FFF2-40B4-BE49-F238E27FC236}">
                <a16:creationId xmlns:a16="http://schemas.microsoft.com/office/drawing/2014/main" id="{32ED07F0-B5F8-C3F6-1563-5B2EE23F97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3061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306594e0b0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306594e0b0_0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306594e0b0_0_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25746" y="2387892"/>
            <a:ext cx="4660298" cy="1682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400"/>
              <a:buFont typeface="Titillium Web"/>
              <a:buNone/>
              <a:defRPr sz="54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25752" y="4148366"/>
            <a:ext cx="4660296" cy="40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ctr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 i="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4858655" y="502253"/>
            <a:ext cx="459317" cy="459317"/>
          </a:xfrm>
          <a:prstGeom prst="ellipse">
            <a:avLst/>
          </a:prstGeom>
          <a:noFill/>
          <a:ln w="101600" cap="flat" cmpd="sng">
            <a:solidFill>
              <a:srgbClr val="649818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5172820" y="2243668"/>
            <a:ext cx="991815" cy="991809"/>
          </a:xfrm>
          <a:prstGeom prst="ellipse">
            <a:avLst/>
          </a:prstGeom>
          <a:noFill/>
          <a:ln w="76200" cap="flat" cmpd="sng">
            <a:solidFill>
              <a:schemeClr val="accent1">
                <a:alpha val="94901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7781792" y="312964"/>
            <a:ext cx="1682753" cy="1682741"/>
          </a:xfrm>
          <a:prstGeom prst="arc">
            <a:avLst>
              <a:gd name="adj1" fmla="val 2576641"/>
              <a:gd name="adj2" fmla="val 19130638"/>
            </a:avLst>
          </a:prstGeom>
          <a:noFill/>
          <a:ln w="254000" cap="flat" cmpd="sng">
            <a:solidFill>
              <a:schemeClr val="accent2">
                <a:alpha val="8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6603942" y="4547810"/>
            <a:ext cx="2686143" cy="2686118"/>
          </a:xfrm>
          <a:prstGeom prst="arc">
            <a:avLst>
              <a:gd name="adj1" fmla="val 12746482"/>
              <a:gd name="adj2" fmla="val 19649400"/>
            </a:avLst>
          </a:prstGeom>
          <a:noFill/>
          <a:ln w="50800" cap="flat" cmpd="sng">
            <a:solidFill>
              <a:schemeClr val="accent1">
                <a:alpha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5655423" y="4016570"/>
            <a:ext cx="1801279" cy="1801262"/>
          </a:xfrm>
          <a:prstGeom prst="arc">
            <a:avLst>
              <a:gd name="adj1" fmla="val 9718591"/>
              <a:gd name="adj2" fmla="val 1134132"/>
            </a:avLst>
          </a:prstGeom>
          <a:noFill/>
          <a:ln w="177800" cap="flat" cmpd="sng">
            <a:solidFill>
              <a:schemeClr val="accent2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7904223" y="3205238"/>
            <a:ext cx="796800" cy="796792"/>
          </a:xfrm>
          <a:prstGeom prst="ellipse">
            <a:avLst/>
          </a:prstGeom>
          <a:noFill/>
          <a:ln w="3048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705" cy="110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1"/>
          </p:nvPr>
        </p:nvSpPr>
        <p:spPr>
          <a:xfrm>
            <a:off x="426962" y="1777999"/>
            <a:ext cx="6769705" cy="2896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Char char="•"/>
              <a:defRPr b="0"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7910769" y="-1244837"/>
            <a:ext cx="2672094" cy="2672068"/>
          </a:xfrm>
          <a:prstGeom prst="arc">
            <a:avLst>
              <a:gd name="adj1" fmla="val 5601003"/>
              <a:gd name="adj2" fmla="val 11166498"/>
            </a:avLst>
          </a:prstGeom>
          <a:noFill/>
          <a:ln w="76200" cap="flat" cmpd="sng">
            <a:solidFill>
              <a:schemeClr val="accent1">
                <a:alpha val="8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580064" y="1722069"/>
            <a:ext cx="322031" cy="322027"/>
          </a:xfrm>
          <a:prstGeom prst="ellipse">
            <a:avLst/>
          </a:prstGeom>
          <a:noFill/>
          <a:ln w="1524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7196667" y="-217729"/>
            <a:ext cx="713621" cy="713616"/>
          </a:xfrm>
          <a:prstGeom prst="arc">
            <a:avLst>
              <a:gd name="adj1" fmla="val 19698826"/>
              <a:gd name="adj2" fmla="val 12889151"/>
            </a:avLst>
          </a:prstGeom>
          <a:noFill/>
          <a:ln w="177800" cap="flat" cmpd="sng">
            <a:solidFill>
              <a:schemeClr val="accent2">
                <a:alpha val="6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3" name="Google Shape;33;p3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425974" y="595835"/>
            <a:ext cx="6063116" cy="291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5200"/>
              <a:buFont typeface="Titillium Web"/>
              <a:buNone/>
              <a:defRPr sz="5200" b="0" i="0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425980" y="3540742"/>
            <a:ext cx="6063114" cy="53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 i="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211149" y="-106742"/>
            <a:ext cx="648613" cy="648612"/>
          </a:xfrm>
          <a:prstGeom prst="arc">
            <a:avLst>
              <a:gd name="adj1" fmla="val 17981568"/>
              <a:gd name="adj2" fmla="val 14115217"/>
            </a:avLst>
          </a:prstGeom>
          <a:noFill/>
          <a:ln w="101600" cap="flat" cmpd="sng">
            <a:solidFill>
              <a:srgbClr val="649818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595745" y="1239764"/>
            <a:ext cx="4960072" cy="4960024"/>
          </a:xfrm>
          <a:prstGeom prst="arc">
            <a:avLst>
              <a:gd name="adj1" fmla="val 8564242"/>
              <a:gd name="adj2" fmla="val 14997663"/>
            </a:avLst>
          </a:prstGeom>
          <a:noFill/>
          <a:ln w="76200" cap="flat" cmpd="sng">
            <a:solidFill>
              <a:schemeClr val="accent1">
                <a:alpha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966812" y="266092"/>
            <a:ext cx="2528904" cy="2528877"/>
          </a:xfrm>
          <a:prstGeom prst="arc">
            <a:avLst>
              <a:gd name="adj1" fmla="val 2303716"/>
              <a:gd name="adj2" fmla="val 19273932"/>
            </a:avLst>
          </a:prstGeom>
          <a:noFill/>
          <a:ln w="177800" cap="flat" cmpd="sng">
            <a:solidFill>
              <a:schemeClr val="accent2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249583" y="4104833"/>
            <a:ext cx="727228" cy="727218"/>
          </a:xfrm>
          <a:prstGeom prst="ellipse">
            <a:avLst/>
          </a:prstGeom>
          <a:noFill/>
          <a:ln w="2540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" name="Google Shape;43;p4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7910769" y="-1244837"/>
            <a:ext cx="2672094" cy="2672068"/>
          </a:xfrm>
          <a:prstGeom prst="arc">
            <a:avLst>
              <a:gd name="adj1" fmla="val 5616652"/>
              <a:gd name="adj2" fmla="val 11074055"/>
            </a:avLst>
          </a:prstGeom>
          <a:noFill/>
          <a:ln w="76200" cap="flat" cmpd="sng">
            <a:solidFill>
              <a:schemeClr val="accent1">
                <a:alpha val="8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7196667" y="-217729"/>
            <a:ext cx="713621" cy="713616"/>
          </a:xfrm>
          <a:prstGeom prst="arc">
            <a:avLst>
              <a:gd name="adj1" fmla="val 19456260"/>
              <a:gd name="adj2" fmla="val 13111335"/>
            </a:avLst>
          </a:prstGeom>
          <a:noFill/>
          <a:ln w="177800" cap="flat" cmpd="sng">
            <a:solidFill>
              <a:schemeClr val="accent2">
                <a:alpha val="6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426962" y="599079"/>
            <a:ext cx="4338562" cy="110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8580064" y="1722069"/>
            <a:ext cx="322031" cy="322027"/>
          </a:xfrm>
          <a:prstGeom prst="ellipse">
            <a:avLst/>
          </a:prstGeom>
          <a:noFill/>
          <a:ln w="1524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1"/>
          </p:nvPr>
        </p:nvSpPr>
        <p:spPr>
          <a:xfrm>
            <a:off x="429874" y="2114550"/>
            <a:ext cx="4065926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2"/>
          </p:nvPr>
        </p:nvSpPr>
        <p:spPr>
          <a:xfrm>
            <a:off x="4724400" y="2114550"/>
            <a:ext cx="4065926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426960" y="1774278"/>
            <a:ext cx="3230640" cy="492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ctr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 b="1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  <a:defRPr sz="2000" b="1"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  <a:defRPr sz="1800" b="1"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7910769" y="-1244837"/>
            <a:ext cx="2672094" cy="2672068"/>
          </a:xfrm>
          <a:prstGeom prst="arc">
            <a:avLst>
              <a:gd name="adj1" fmla="val 5507087"/>
              <a:gd name="adj2" fmla="val 11088393"/>
            </a:avLst>
          </a:prstGeom>
          <a:noFill/>
          <a:ln w="76200" cap="flat" cmpd="sng">
            <a:solidFill>
              <a:schemeClr val="accent1">
                <a:alpha val="8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7196667" y="-217729"/>
            <a:ext cx="713621" cy="713616"/>
          </a:xfrm>
          <a:prstGeom prst="arc">
            <a:avLst>
              <a:gd name="adj1" fmla="val 19492636"/>
              <a:gd name="adj2" fmla="val 12829183"/>
            </a:avLst>
          </a:prstGeom>
          <a:noFill/>
          <a:ln w="177800" cap="flat" cmpd="sng">
            <a:solidFill>
              <a:schemeClr val="accent2">
                <a:alpha val="6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8580064" y="1722069"/>
            <a:ext cx="322031" cy="322027"/>
          </a:xfrm>
          <a:prstGeom prst="ellipse">
            <a:avLst/>
          </a:prstGeom>
          <a:noFill/>
          <a:ln w="1524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1" name="Google Shape;61;p6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705" cy="110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body" idx="2"/>
          </p:nvPr>
        </p:nvSpPr>
        <p:spPr>
          <a:xfrm>
            <a:off x="3962400" y="1774278"/>
            <a:ext cx="3234266" cy="492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ctr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 b="1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  <a:defRPr sz="2000" b="1"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  <a:defRPr sz="1800" b="1"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body" idx="3"/>
          </p:nvPr>
        </p:nvSpPr>
        <p:spPr>
          <a:xfrm>
            <a:off x="426962" y="2343150"/>
            <a:ext cx="3230638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4"/>
          </p:nvPr>
        </p:nvSpPr>
        <p:spPr>
          <a:xfrm>
            <a:off x="3966027" y="2343150"/>
            <a:ext cx="3230638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87350" algn="l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500"/>
              <a:buFont typeface="Arial"/>
              <a:buChar char="•"/>
              <a:defRPr sz="20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Courier New"/>
              <a:buChar char="o"/>
              <a:defRPr sz="18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Char char="o"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ourier New"/>
              <a:buChar char="o"/>
              <a:defRPr sz="14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Courier New"/>
              <a:buChar char="o"/>
              <a:defRPr sz="12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8329990" cy="110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8702523" y="3949589"/>
            <a:ext cx="1487714" cy="1487698"/>
          </a:xfrm>
          <a:prstGeom prst="arc">
            <a:avLst>
              <a:gd name="adj1" fmla="val 8054149"/>
              <a:gd name="adj2" fmla="val 15007134"/>
            </a:avLst>
          </a:prstGeom>
          <a:noFill/>
          <a:ln w="177800" cap="flat" cmpd="sng">
            <a:solidFill>
              <a:schemeClr val="accent1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5182746" y="4420811"/>
            <a:ext cx="4960072" cy="4960024"/>
          </a:xfrm>
          <a:prstGeom prst="arc">
            <a:avLst>
              <a:gd name="adj1" fmla="val 13376898"/>
              <a:gd name="adj2" fmla="val 18525276"/>
            </a:avLst>
          </a:prstGeom>
          <a:noFill/>
          <a:ln w="76200" cap="flat" cmpd="sng">
            <a:solidFill>
              <a:schemeClr val="accent2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5891882" y="4680868"/>
            <a:ext cx="306926" cy="306922"/>
          </a:xfrm>
          <a:prstGeom prst="ellipse">
            <a:avLst/>
          </a:prstGeom>
          <a:noFill/>
          <a:ln w="152400" cap="flat" cmpd="sng">
            <a:solidFill>
              <a:schemeClr val="accent2">
                <a:alpha val="4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>
            <a:off x="8702523" y="3949589"/>
            <a:ext cx="1487714" cy="1487698"/>
          </a:xfrm>
          <a:prstGeom prst="arc">
            <a:avLst>
              <a:gd name="adj1" fmla="val 8100022"/>
              <a:gd name="adj2" fmla="val 15123986"/>
            </a:avLst>
          </a:prstGeom>
          <a:noFill/>
          <a:ln w="177800" cap="flat" cmpd="sng">
            <a:solidFill>
              <a:schemeClr val="accent1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1"/>
          </p:nvPr>
        </p:nvSpPr>
        <p:spPr>
          <a:xfrm>
            <a:off x="426964" y="1590524"/>
            <a:ext cx="3038322" cy="2211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  <a:defRPr sz="1800" b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A5A5A5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A5A5A5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5182746" y="4420811"/>
            <a:ext cx="4960072" cy="4960024"/>
          </a:xfrm>
          <a:prstGeom prst="arc">
            <a:avLst>
              <a:gd name="adj1" fmla="val 13378274"/>
              <a:gd name="adj2" fmla="val 18493132"/>
            </a:avLst>
          </a:prstGeom>
          <a:noFill/>
          <a:ln w="76200" cap="flat" cmpd="sng">
            <a:solidFill>
              <a:schemeClr val="accent2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5891882" y="4680868"/>
            <a:ext cx="306926" cy="306922"/>
          </a:xfrm>
          <a:prstGeom prst="ellipse">
            <a:avLst/>
          </a:prstGeom>
          <a:noFill/>
          <a:ln w="152400" cap="flat" cmpd="sng">
            <a:solidFill>
              <a:schemeClr val="accent2">
                <a:alpha val="4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5" name="Google Shape;85;p9"/>
          <p:cNvSpPr txBox="1">
            <a:spLocks noGrp="1"/>
          </p:cNvSpPr>
          <p:nvPr>
            <p:ph type="title"/>
          </p:nvPr>
        </p:nvSpPr>
        <p:spPr>
          <a:xfrm>
            <a:off x="426962" y="599079"/>
            <a:ext cx="3038324" cy="94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Titillium Web"/>
              <a:buNone/>
              <a:defRPr sz="30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body" idx="2"/>
          </p:nvPr>
        </p:nvSpPr>
        <p:spPr>
          <a:xfrm>
            <a:off x="3567426" y="590550"/>
            <a:ext cx="513509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/>
          <p:nvPr/>
        </p:nvSpPr>
        <p:spPr>
          <a:xfrm>
            <a:off x="-388559" y="264603"/>
            <a:ext cx="1350130" cy="1350103"/>
          </a:xfrm>
          <a:prstGeom prst="arc">
            <a:avLst>
              <a:gd name="adj1" fmla="val 14284001"/>
              <a:gd name="adj2" fmla="val 7245957"/>
            </a:avLst>
          </a:prstGeom>
          <a:noFill/>
          <a:ln w="1778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2" name="Google Shape;92;p10"/>
          <p:cNvSpPr txBox="1">
            <a:spLocks noGrp="1"/>
          </p:cNvSpPr>
          <p:nvPr>
            <p:ph type="title"/>
          </p:nvPr>
        </p:nvSpPr>
        <p:spPr>
          <a:xfrm>
            <a:off x="4955408" y="593725"/>
            <a:ext cx="3940640" cy="326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5400"/>
              <a:buFont typeface="Titillium Web"/>
              <a:buNone/>
              <a:defRPr sz="54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body" idx="1"/>
          </p:nvPr>
        </p:nvSpPr>
        <p:spPr>
          <a:xfrm>
            <a:off x="4953525" y="3943350"/>
            <a:ext cx="3942232" cy="36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ctr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None/>
              <a:defRPr sz="14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94" name="Google Shape;94;p10"/>
          <p:cNvSpPr>
            <a:spLocks noGrp="1"/>
          </p:cNvSpPr>
          <p:nvPr>
            <p:ph type="pic" idx="2"/>
          </p:nvPr>
        </p:nvSpPr>
        <p:spPr>
          <a:xfrm>
            <a:off x="152400" y="326976"/>
            <a:ext cx="4505514" cy="4505514"/>
          </a:xfrm>
          <a:prstGeom prst="ellipse">
            <a:avLst/>
          </a:prstGeom>
          <a:noFill/>
          <a:ln>
            <a:noFill/>
          </a:ln>
        </p:spPr>
      </p:sp>
      <p:sp>
        <p:nvSpPr>
          <p:cNvPr id="95" name="Google Shape;95;p10"/>
          <p:cNvSpPr/>
          <p:nvPr/>
        </p:nvSpPr>
        <p:spPr>
          <a:xfrm>
            <a:off x="3719310" y="4215185"/>
            <a:ext cx="489832" cy="489829"/>
          </a:xfrm>
          <a:prstGeom prst="ellipse">
            <a:avLst/>
          </a:prstGeom>
          <a:noFill/>
          <a:ln w="228600" cap="flat" cmpd="sng">
            <a:solidFill>
              <a:schemeClr val="accent2">
                <a:alpha val="6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/>
          </a:p>
        </p:txBody>
      </p:sp>
      <p:sp>
        <p:nvSpPr>
          <p:cNvPr id="96" name="Google Shape;96;p10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97" name="Google Shape;97;p10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0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Images, and Text">
  <p:cSld name="Title, Images, and 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876800" y="4269977"/>
            <a:ext cx="620803" cy="620795"/>
          </a:xfrm>
          <a:prstGeom prst="ellipse">
            <a:avLst/>
          </a:prstGeom>
          <a:noFill/>
          <a:ln w="177800" cap="flat" cmpd="sng">
            <a:solidFill>
              <a:schemeClr val="accent1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6019800" y="2800350"/>
            <a:ext cx="4960072" cy="4960024"/>
          </a:xfrm>
          <a:prstGeom prst="arc">
            <a:avLst>
              <a:gd name="adj1" fmla="val 10934534"/>
              <a:gd name="adj2" fmla="val 17186360"/>
            </a:avLst>
          </a:prstGeom>
          <a:noFill/>
          <a:ln w="152400" cap="flat" cmpd="sng">
            <a:solidFill>
              <a:schemeClr val="accent1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381000" y="3988414"/>
            <a:ext cx="306926" cy="306922"/>
          </a:xfrm>
          <a:prstGeom prst="ellipse">
            <a:avLst/>
          </a:prstGeom>
          <a:noFill/>
          <a:ln w="152400" cap="flat" cmpd="sng">
            <a:solidFill>
              <a:schemeClr val="accent2">
                <a:alpha val="4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7910769" y="-1244837"/>
            <a:ext cx="2672094" cy="2672068"/>
          </a:xfrm>
          <a:prstGeom prst="arc">
            <a:avLst>
              <a:gd name="adj1" fmla="val 5577596"/>
              <a:gd name="adj2" fmla="val 11149111"/>
            </a:avLst>
          </a:prstGeom>
          <a:noFill/>
          <a:ln w="76200" cap="flat" cmpd="sng">
            <a:solidFill>
              <a:schemeClr val="accent1">
                <a:alpha val="8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7196667" y="-217729"/>
            <a:ext cx="713621" cy="713616"/>
          </a:xfrm>
          <a:prstGeom prst="arc">
            <a:avLst>
              <a:gd name="adj1" fmla="val 19572922"/>
              <a:gd name="adj2" fmla="val 12898409"/>
            </a:avLst>
          </a:prstGeom>
          <a:noFill/>
          <a:ln w="177800" cap="flat" cmpd="sng">
            <a:solidFill>
              <a:schemeClr val="accent2">
                <a:alpha val="6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7871841" y="1077418"/>
            <a:ext cx="322031" cy="322027"/>
          </a:xfrm>
          <a:prstGeom prst="ellipse">
            <a:avLst/>
          </a:prstGeom>
          <a:noFill/>
          <a:ln w="1524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6" name="Google Shape;106;p11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705" cy="110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1"/>
          <p:cNvSpPr txBox="1">
            <a:spLocks noGrp="1"/>
          </p:cNvSpPr>
          <p:nvPr>
            <p:ph type="body" idx="1"/>
          </p:nvPr>
        </p:nvSpPr>
        <p:spPr>
          <a:xfrm>
            <a:off x="426961" y="1733550"/>
            <a:ext cx="2163839" cy="79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Arial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8" name="Google Shape;108;p11"/>
          <p:cNvSpPr>
            <a:spLocks noGrp="1"/>
          </p:cNvSpPr>
          <p:nvPr>
            <p:ph type="pic" idx="2"/>
          </p:nvPr>
        </p:nvSpPr>
        <p:spPr>
          <a:xfrm>
            <a:off x="426961" y="2562036"/>
            <a:ext cx="2143314" cy="2143314"/>
          </a:xfrm>
          <a:prstGeom prst="ellipse">
            <a:avLst/>
          </a:prstGeom>
          <a:noFill/>
          <a:ln>
            <a:noFill/>
          </a:ln>
        </p:spPr>
      </p:sp>
      <p:sp>
        <p:nvSpPr>
          <p:cNvPr id="109" name="Google Shape;109;p11"/>
          <p:cNvSpPr txBox="1">
            <a:spLocks noGrp="1"/>
          </p:cNvSpPr>
          <p:nvPr>
            <p:ph type="body" idx="3"/>
          </p:nvPr>
        </p:nvSpPr>
        <p:spPr>
          <a:xfrm>
            <a:off x="3447124" y="1733550"/>
            <a:ext cx="2163839" cy="79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Arial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0" name="Google Shape;110;p11"/>
          <p:cNvSpPr>
            <a:spLocks noGrp="1"/>
          </p:cNvSpPr>
          <p:nvPr>
            <p:ph type="pic" idx="4"/>
          </p:nvPr>
        </p:nvSpPr>
        <p:spPr>
          <a:xfrm>
            <a:off x="3447124" y="2562036"/>
            <a:ext cx="2143314" cy="2143314"/>
          </a:xfrm>
          <a:prstGeom prst="ellipse">
            <a:avLst/>
          </a:prstGeom>
          <a:noFill/>
          <a:ln>
            <a:noFill/>
          </a:ln>
        </p:spPr>
      </p:sp>
      <p:sp>
        <p:nvSpPr>
          <p:cNvPr id="111" name="Google Shape;111;p11"/>
          <p:cNvSpPr txBox="1">
            <a:spLocks noGrp="1"/>
          </p:cNvSpPr>
          <p:nvPr>
            <p:ph type="body" idx="5"/>
          </p:nvPr>
        </p:nvSpPr>
        <p:spPr>
          <a:xfrm>
            <a:off x="6467286" y="1733550"/>
            <a:ext cx="2163839" cy="79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Arial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2" name="Google Shape;112;p11"/>
          <p:cNvSpPr>
            <a:spLocks noGrp="1"/>
          </p:cNvSpPr>
          <p:nvPr>
            <p:ph type="pic" idx="6"/>
          </p:nvPr>
        </p:nvSpPr>
        <p:spPr>
          <a:xfrm>
            <a:off x="6467286" y="2562036"/>
            <a:ext cx="2143314" cy="2143314"/>
          </a:xfrm>
          <a:prstGeom prst="ellipse">
            <a:avLst/>
          </a:prstGeom>
          <a:noFill/>
          <a:ln>
            <a:noFill/>
          </a:ln>
        </p:spPr>
      </p:sp>
      <p:sp>
        <p:nvSpPr>
          <p:cNvPr id="113" name="Google Shape;113;p11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1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Title and Images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3124200" y="3105150"/>
            <a:ext cx="322031" cy="322027"/>
          </a:xfrm>
          <a:prstGeom prst="ellipse">
            <a:avLst/>
          </a:prstGeom>
          <a:noFill/>
          <a:ln w="1524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8363000" y="2719175"/>
            <a:ext cx="648613" cy="648612"/>
          </a:xfrm>
          <a:prstGeom prst="ellipse">
            <a:avLst/>
          </a:prstGeom>
          <a:noFill/>
          <a:ln w="101600" cap="flat" cmpd="sng">
            <a:solidFill>
              <a:srgbClr val="649818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6779178" y="-2305050"/>
            <a:ext cx="4960072" cy="4960024"/>
          </a:xfrm>
          <a:prstGeom prst="arc">
            <a:avLst>
              <a:gd name="adj1" fmla="val 5507982"/>
              <a:gd name="adj2" fmla="val 11071343"/>
            </a:avLst>
          </a:prstGeom>
          <a:noFill/>
          <a:ln w="76200" cap="flat" cmpd="sng">
            <a:solidFill>
              <a:schemeClr val="accent1">
                <a:alpha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7772400" y="336216"/>
            <a:ext cx="2528904" cy="2528877"/>
          </a:xfrm>
          <a:prstGeom prst="arc">
            <a:avLst>
              <a:gd name="adj1" fmla="val 5009814"/>
              <a:gd name="adj2" fmla="val 16614095"/>
            </a:avLst>
          </a:prstGeom>
          <a:noFill/>
          <a:ln w="177800" cap="flat" cmpd="sng">
            <a:solidFill>
              <a:schemeClr val="accent2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5486400" y="3367788"/>
            <a:ext cx="727228" cy="727218"/>
          </a:xfrm>
          <a:prstGeom prst="ellipse">
            <a:avLst/>
          </a:prstGeom>
          <a:noFill/>
          <a:ln w="2540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22" name="Google Shape;122;p12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705" cy="110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2"/>
          <p:cNvSpPr>
            <a:spLocks noGrp="1"/>
          </p:cNvSpPr>
          <p:nvPr>
            <p:ph type="pic" idx="2"/>
          </p:nvPr>
        </p:nvSpPr>
        <p:spPr>
          <a:xfrm>
            <a:off x="426961" y="1962150"/>
            <a:ext cx="2743200" cy="274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12"/>
          <p:cNvSpPr>
            <a:spLocks noGrp="1"/>
          </p:cNvSpPr>
          <p:nvPr>
            <p:ph type="pic" idx="3"/>
          </p:nvPr>
        </p:nvSpPr>
        <p:spPr>
          <a:xfrm>
            <a:off x="3200400" y="1962150"/>
            <a:ext cx="1524000" cy="152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5" name="Google Shape;125;p12"/>
          <p:cNvSpPr>
            <a:spLocks noGrp="1"/>
          </p:cNvSpPr>
          <p:nvPr>
            <p:ph type="pic" idx="4"/>
          </p:nvPr>
        </p:nvSpPr>
        <p:spPr>
          <a:xfrm>
            <a:off x="4267200" y="3181350"/>
            <a:ext cx="1524000" cy="152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2"/>
          <p:cNvSpPr>
            <a:spLocks noGrp="1"/>
          </p:cNvSpPr>
          <p:nvPr>
            <p:ph type="pic" idx="5"/>
          </p:nvPr>
        </p:nvSpPr>
        <p:spPr>
          <a:xfrm>
            <a:off x="5867400" y="1962150"/>
            <a:ext cx="2743200" cy="274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7" name="Google Shape;127;p12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ECECEC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 u="none" strike="noStrike" cap="none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/>
        </p:nvSpPr>
        <p:spPr>
          <a:xfrm>
            <a:off x="0" y="0"/>
            <a:ext cx="9061800" cy="18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Shri Ramdeobaba College of Engineering &amp; Management, Nagpur </a:t>
            </a:r>
            <a:br>
              <a:rPr lang="en-US" sz="1600" b="0" i="0" u="none" strike="noStrike" cap="none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endParaRPr sz="1600" b="0" i="0" u="none" strike="noStrike" cap="none">
              <a:solidFill>
                <a:srgbClr val="00206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Department of Computer Science &amp; Engineering(AIML)</a:t>
            </a:r>
            <a:br>
              <a:rPr lang="en-US" sz="1600" b="0" i="0" u="none" strike="noStrike" cap="none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endParaRPr sz="1600" b="0" i="0" u="none" strike="noStrike" cap="none">
              <a:solidFill>
                <a:srgbClr val="00206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Session 20</a:t>
            </a:r>
            <a:r>
              <a:rPr lang="en-US" sz="1600" b="1" i="1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25</a:t>
            </a:r>
            <a:r>
              <a:rPr lang="en-US" sz="1600" b="1" i="1" u="none" strike="noStrike" cap="none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-2026</a:t>
            </a:r>
            <a:r>
              <a:rPr lang="en-US" sz="1400" b="1" i="1" u="none" strike="noStrike" cap="none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2797711" y="1801672"/>
            <a:ext cx="3774862" cy="735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SEMINAR 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ON</a:t>
            </a:r>
            <a:br>
              <a:rPr lang="en-US"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endParaRPr sz="1600" b="0" i="0" u="none" strike="noStrike" cap="non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892625" y="2431404"/>
            <a:ext cx="5358750" cy="63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 err="1">
                <a:solidFill>
                  <a:srgbClr val="C61B4A"/>
                </a:solidFill>
                <a:latin typeface="Titillium Web"/>
                <a:ea typeface="Titillium Web"/>
                <a:cs typeface="Titillium Web"/>
                <a:sym typeface="Titillium Web"/>
              </a:rPr>
              <a:t>PolicySimplifier</a:t>
            </a:r>
            <a:r>
              <a:rPr lang="en-US" sz="1800" i="1" dirty="0">
                <a:solidFill>
                  <a:srgbClr val="C61B4A"/>
                </a:solidFill>
                <a:latin typeface="Titillium Web"/>
                <a:ea typeface="Titillium Web"/>
                <a:cs typeface="Titillium Web"/>
                <a:sym typeface="Titillium Web"/>
              </a:rPr>
              <a:t>: AI-Powered Policy Summarization &amp; QA System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37" name="Google Shape;137;p13"/>
          <p:cNvSpPr txBox="1"/>
          <p:nvPr/>
        </p:nvSpPr>
        <p:spPr>
          <a:xfrm>
            <a:off x="526891" y="3311394"/>
            <a:ext cx="1905000" cy="5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Guided By: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Prof. Rashmi Dagde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6395275" y="3311408"/>
            <a:ext cx="1905000" cy="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Presented By: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Group No-15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Sanket </a:t>
            </a:r>
            <a:r>
              <a:rPr lang="en-US" i="1" dirty="0" err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Suryawanshi</a:t>
            </a:r>
            <a:endParaRPr lang="en-US" i="1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Riddhi Dani</a:t>
            </a:r>
            <a:endParaRPr i="1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Prathmesh </a:t>
            </a:r>
            <a:r>
              <a:rPr lang="en-US" i="1" dirty="0" err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Kurekar</a:t>
            </a:r>
            <a:endParaRPr i="1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Sanidhya Jain</a:t>
            </a:r>
            <a:endParaRPr i="1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Sujal Tonge</a:t>
            </a:r>
            <a:endParaRPr i="1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39" name="Google Shape;139;p13" descr="C:\Users\pc\Desktop\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18288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 descr="See the source 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971551"/>
            <a:ext cx="1828800" cy="38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>
            <a:spLocks noGrp="1"/>
          </p:cNvSpPr>
          <p:nvPr>
            <p:ph type="body" idx="1"/>
          </p:nvPr>
        </p:nvSpPr>
        <p:spPr>
          <a:xfrm>
            <a:off x="289932" y="228600"/>
            <a:ext cx="8608741" cy="46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Problem Solution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lang="en-US" dirty="0"/>
          </a:p>
          <a:p>
            <a:pPr marL="10160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Problem: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Government and legal documents are lengthy, complex, and full of jargon.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Citizens and professionals struggle to understand or extract key information.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Lack of centralized, intelligent systems makes governance opaque.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Leads to </a:t>
            </a:r>
            <a:r>
              <a:rPr lang="en-US" sz="1800" b="1" dirty="0">
                <a:solidFill>
                  <a:schemeClr val="tx1"/>
                </a:solidFill>
              </a:rPr>
              <a:t>confusion, inefficiency, and lack of transparency</a:t>
            </a:r>
            <a:r>
              <a:rPr lang="en-US" sz="1800" dirty="0">
                <a:solidFill>
                  <a:schemeClr val="tx1"/>
                </a:solidFill>
              </a:rPr>
              <a:t> in governance.</a:t>
            </a:r>
          </a:p>
          <a:p>
            <a:pPr marL="10160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Solution:</a:t>
            </a:r>
          </a:p>
          <a:p>
            <a:pPr>
              <a:buClrTx/>
            </a:pPr>
            <a:r>
              <a:rPr lang="en-US" sz="1800" b="1" dirty="0" err="1">
                <a:solidFill>
                  <a:schemeClr val="tx1"/>
                </a:solidFill>
              </a:rPr>
              <a:t>PolicySimplifier</a:t>
            </a:r>
            <a:r>
              <a:rPr lang="en-US" sz="1800" dirty="0">
                <a:solidFill>
                  <a:schemeClr val="tx1"/>
                </a:solidFill>
              </a:rPr>
              <a:t>: An </a:t>
            </a:r>
            <a:r>
              <a:rPr lang="en-US" sz="1800" b="1" dirty="0">
                <a:solidFill>
                  <a:schemeClr val="tx1"/>
                </a:solidFill>
              </a:rPr>
              <a:t>AI</a:t>
            </a:r>
            <a:r>
              <a:rPr lang="en-US" sz="1800" dirty="0">
                <a:solidFill>
                  <a:schemeClr val="tx1"/>
                </a:solidFill>
              </a:rPr>
              <a:t>-driven system that simplifies, summarizes, and answers questions from policy documents.</a:t>
            </a:r>
          </a:p>
          <a:p>
            <a:pPr>
              <a:buClrTx/>
            </a:pPr>
            <a:r>
              <a:rPr lang="en-US" sz="1800" dirty="0">
                <a:solidFill>
                  <a:schemeClr val="tx1"/>
                </a:solidFill>
              </a:rPr>
              <a:t>Uses </a:t>
            </a:r>
            <a:r>
              <a:rPr lang="en-US" sz="1800" b="1" dirty="0">
                <a:solidFill>
                  <a:schemeClr val="tx1"/>
                </a:solidFill>
              </a:rPr>
              <a:t>Natural Language Processing (NLP)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chemeClr val="tx1"/>
                </a:solidFill>
              </a:rPr>
              <a:t>Retrieval-Augmented Generation (RAG).</a:t>
            </a:r>
          </a:p>
          <a:p>
            <a:pPr>
              <a:buClrTx/>
            </a:pPr>
            <a:r>
              <a:rPr lang="en-US" sz="1800" dirty="0">
                <a:solidFill>
                  <a:schemeClr val="tx1"/>
                </a:solidFill>
              </a:rPr>
              <a:t>Accepts PDFs, images, and text as input.</a:t>
            </a:r>
          </a:p>
          <a:p>
            <a:pPr>
              <a:buClrTx/>
            </a:pPr>
            <a:r>
              <a:rPr lang="en-US" sz="1800" dirty="0">
                <a:solidFill>
                  <a:schemeClr val="tx1"/>
                </a:solidFill>
              </a:rPr>
              <a:t>Provides concise summaries and interactive </a:t>
            </a:r>
            <a:r>
              <a:rPr lang="en-US" sz="1800" b="1" dirty="0">
                <a:solidFill>
                  <a:schemeClr val="tx1"/>
                </a:solidFill>
              </a:rPr>
              <a:t>Q&amp;A</a:t>
            </a:r>
            <a:r>
              <a:rPr lang="en-US" sz="1800" dirty="0">
                <a:solidFill>
                  <a:schemeClr val="tx1"/>
                </a:solidFill>
              </a:rPr>
              <a:t> in multiple language.</a:t>
            </a:r>
          </a:p>
          <a:p>
            <a:endParaRPr 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>
            <a:spLocks noGrp="1"/>
          </p:cNvSpPr>
          <p:nvPr>
            <p:ph type="body" idx="1"/>
          </p:nvPr>
        </p:nvSpPr>
        <p:spPr>
          <a:xfrm>
            <a:off x="223025" y="805295"/>
            <a:ext cx="8697950" cy="3532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How It Addresses the Problem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lang="en-IN" dirty="0"/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tillium Web" panose="00000500000000000000" pitchFamily="2" charset="0"/>
                <a:ea typeface="Lustria"/>
                <a:cs typeface="Lustria"/>
                <a:sym typeface="Lustria"/>
              </a:rPr>
              <a:t>Transforms complex legal text into easy-to-understand summaries.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tillium Web" panose="00000500000000000000" pitchFamily="2" charset="0"/>
                <a:ea typeface="Lustria"/>
                <a:cs typeface="Lustria"/>
                <a:sym typeface="Lustria"/>
              </a:rPr>
              <a:t>Reduces manual effort and time for analysis.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tillium Web" panose="00000500000000000000" pitchFamily="2" charset="0"/>
                <a:ea typeface="Lustria"/>
                <a:cs typeface="Lustria"/>
                <a:sym typeface="Lustria"/>
              </a:rPr>
              <a:t>Enables citizens to query specific clauses and get instant answers.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tillium Web" panose="00000500000000000000" pitchFamily="2" charset="0"/>
                <a:ea typeface="Lustria"/>
                <a:cs typeface="Lustria"/>
                <a:sym typeface="Lustria"/>
              </a:rPr>
              <a:t>Bridges the gap between government policies and public understanding.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tillium Web" panose="00000500000000000000" pitchFamily="2" charset="0"/>
                <a:ea typeface="Lustria"/>
                <a:cs typeface="Lustria"/>
                <a:sym typeface="Lustria"/>
              </a:rPr>
              <a:t>Promotes transparency and accessibility in governance.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body" idx="1"/>
          </p:nvPr>
        </p:nvSpPr>
        <p:spPr>
          <a:xfrm>
            <a:off x="312234" y="228600"/>
            <a:ext cx="8497229" cy="46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Innovation and Uniqueness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lang="en-IN" dirty="0"/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Combines Summarization</a:t>
            </a:r>
            <a:r>
              <a:rPr lang="en-US" sz="1800" dirty="0">
                <a:solidFill>
                  <a:schemeClr val="dk1"/>
                </a:solidFill>
              </a:rPr>
              <a:t> + </a:t>
            </a:r>
            <a:r>
              <a:rPr lang="en-US" sz="1800" b="1" dirty="0">
                <a:solidFill>
                  <a:schemeClr val="dk1"/>
                </a:solidFill>
              </a:rPr>
              <a:t>QA</a:t>
            </a:r>
            <a:r>
              <a:rPr lang="en-US" sz="1800" dirty="0">
                <a:solidFill>
                  <a:schemeClr val="dk1"/>
                </a:solidFill>
              </a:rPr>
              <a:t> using </a:t>
            </a:r>
            <a:r>
              <a:rPr lang="en-US" sz="1800" b="1" dirty="0">
                <a:solidFill>
                  <a:schemeClr val="dk1"/>
                </a:solidFill>
              </a:rPr>
              <a:t>advanced LLMs</a:t>
            </a:r>
            <a:r>
              <a:rPr lang="en-US" sz="1800" dirty="0">
                <a:solidFill>
                  <a:schemeClr val="dk1"/>
                </a:solidFill>
              </a:rPr>
              <a:t>.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RAG-based</a:t>
            </a:r>
            <a:r>
              <a:rPr lang="en-US" sz="1800" dirty="0">
                <a:solidFill>
                  <a:schemeClr val="dk1"/>
                </a:solidFill>
              </a:rPr>
              <a:t> architecture ensures context-aware, accurate answers.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Multilingual capability </a:t>
            </a:r>
            <a:r>
              <a:rPr lang="en-US" sz="1800" dirty="0">
                <a:solidFill>
                  <a:schemeClr val="dk1"/>
                </a:solidFill>
              </a:rPr>
              <a:t>(</a:t>
            </a:r>
            <a:r>
              <a:rPr lang="en-US" sz="1800" b="1" dirty="0">
                <a:solidFill>
                  <a:schemeClr val="dk1"/>
                </a:solidFill>
              </a:rPr>
              <a:t>mT5 / </a:t>
            </a:r>
            <a:r>
              <a:rPr lang="en-US" sz="1800" b="1" dirty="0" err="1">
                <a:solidFill>
                  <a:schemeClr val="dk1"/>
                </a:solidFill>
              </a:rPr>
              <a:t>mBART</a:t>
            </a:r>
            <a:r>
              <a:rPr lang="en-US" sz="1800" dirty="0">
                <a:solidFill>
                  <a:schemeClr val="dk1"/>
                </a:solidFill>
              </a:rPr>
              <a:t>) for inclusivity.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OCR integration </a:t>
            </a:r>
            <a:r>
              <a:rPr lang="en-US" sz="1800" dirty="0">
                <a:solidFill>
                  <a:schemeClr val="dk1"/>
                </a:solidFill>
              </a:rPr>
              <a:t>allows text extraction from scanned documents.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Web-based UI </a:t>
            </a:r>
            <a:r>
              <a:rPr lang="en-US" sz="1800" dirty="0">
                <a:solidFill>
                  <a:schemeClr val="dk1"/>
                </a:solidFill>
              </a:rPr>
              <a:t>for real-time document uploads and interaction.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>
            <a:spLocks noGrp="1"/>
          </p:cNvSpPr>
          <p:nvPr>
            <p:ph type="body" idx="1"/>
          </p:nvPr>
        </p:nvSpPr>
        <p:spPr>
          <a:xfrm>
            <a:off x="260195" y="228600"/>
            <a:ext cx="8549268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33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Technology</a:t>
            </a:r>
            <a:endParaRPr sz="3300" dirty="0"/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Backend &amp; AI Models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Hugging Face Transformers </a:t>
            </a:r>
            <a:r>
              <a:rPr lang="en-US" sz="1900" dirty="0">
                <a:solidFill>
                  <a:schemeClr val="dk1"/>
                </a:solidFill>
              </a:rPr>
              <a:t>→ Summarization (</a:t>
            </a:r>
            <a:r>
              <a:rPr lang="en-US" sz="1900" b="1" dirty="0">
                <a:solidFill>
                  <a:schemeClr val="dk1"/>
                </a:solidFill>
              </a:rPr>
              <a:t>BART/T5</a:t>
            </a:r>
            <a:r>
              <a:rPr lang="en-US" sz="1900" dirty="0">
                <a:solidFill>
                  <a:schemeClr val="dk1"/>
                </a:solidFill>
              </a:rPr>
              <a:t>) &amp; QA </a:t>
            </a:r>
            <a:r>
              <a:rPr lang="en-US" sz="1900" b="1" dirty="0">
                <a:solidFill>
                  <a:schemeClr val="dk1"/>
                </a:solidFill>
              </a:rPr>
              <a:t>(RAG pipeline</a:t>
            </a:r>
            <a:r>
              <a:rPr lang="en-US" sz="1900" dirty="0">
                <a:solidFill>
                  <a:schemeClr val="dk1"/>
                </a:solidFill>
              </a:rPr>
              <a:t>)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 err="1">
                <a:solidFill>
                  <a:schemeClr val="dk1"/>
                </a:solidFill>
              </a:rPr>
              <a:t>PyTorch</a:t>
            </a:r>
            <a:r>
              <a:rPr lang="en-US" sz="1900" b="1" dirty="0">
                <a:solidFill>
                  <a:schemeClr val="dk1"/>
                </a:solidFill>
              </a:rPr>
              <a:t> / TensorFlow </a:t>
            </a:r>
            <a:r>
              <a:rPr lang="en-US" sz="1900" dirty="0">
                <a:solidFill>
                  <a:schemeClr val="dk1"/>
                </a:solidFill>
              </a:rPr>
              <a:t>→ Model training and fine-tuning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Sentence-Transformers</a:t>
            </a:r>
            <a:r>
              <a:rPr lang="en-US" sz="1900" dirty="0">
                <a:solidFill>
                  <a:schemeClr val="dk1"/>
                </a:solidFill>
              </a:rPr>
              <a:t> / </a:t>
            </a:r>
            <a:r>
              <a:rPr lang="en-US" sz="1900" b="1" dirty="0">
                <a:solidFill>
                  <a:schemeClr val="dk1"/>
                </a:solidFill>
              </a:rPr>
              <a:t>FAISS</a:t>
            </a:r>
            <a:r>
              <a:rPr lang="en-US" sz="1900" dirty="0">
                <a:solidFill>
                  <a:schemeClr val="dk1"/>
                </a:solidFill>
              </a:rPr>
              <a:t> / </a:t>
            </a:r>
            <a:r>
              <a:rPr lang="en-US" sz="1900" b="1" dirty="0" err="1">
                <a:solidFill>
                  <a:schemeClr val="dk1"/>
                </a:solidFill>
              </a:rPr>
              <a:t>ElasticSearch</a:t>
            </a:r>
            <a:r>
              <a:rPr lang="en-US" sz="1900" dirty="0">
                <a:solidFill>
                  <a:schemeClr val="dk1"/>
                </a:solidFill>
              </a:rPr>
              <a:t> → Document embeddings &amp; retrieval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 err="1">
                <a:solidFill>
                  <a:schemeClr val="dk1"/>
                </a:solidFill>
              </a:rPr>
              <a:t>LangChain,Langsmith</a:t>
            </a:r>
            <a:r>
              <a:rPr lang="en-US" sz="1900" dirty="0">
                <a:solidFill>
                  <a:schemeClr val="dk1"/>
                </a:solidFill>
              </a:rPr>
              <a:t> → Orchestration of retrieval + </a:t>
            </a:r>
            <a:r>
              <a:rPr lang="en-US" sz="1900" b="1" dirty="0">
                <a:solidFill>
                  <a:schemeClr val="dk1"/>
                </a:solidFill>
              </a:rPr>
              <a:t>LLM</a:t>
            </a:r>
            <a:r>
              <a:rPr lang="en-US" sz="1900" dirty="0">
                <a:solidFill>
                  <a:schemeClr val="dk1"/>
                </a:solidFill>
              </a:rPr>
              <a:t> for QA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Data Handling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Pandas, NumPy </a:t>
            </a:r>
            <a:r>
              <a:rPr lang="en-US" sz="1900" dirty="0">
                <a:solidFill>
                  <a:schemeClr val="dk1"/>
                </a:solidFill>
              </a:rPr>
              <a:t>→ Dataset preprocessing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OCR </a:t>
            </a:r>
            <a:r>
              <a:rPr lang="en-US" sz="1900" dirty="0">
                <a:solidFill>
                  <a:schemeClr val="dk1"/>
                </a:solidFill>
              </a:rPr>
              <a:t>(</a:t>
            </a:r>
            <a:r>
              <a:rPr lang="en-US" sz="1900" b="1" dirty="0">
                <a:solidFill>
                  <a:schemeClr val="dk1"/>
                </a:solidFill>
              </a:rPr>
              <a:t>Tesseract </a:t>
            </a:r>
            <a:r>
              <a:rPr lang="en-US" sz="1900" dirty="0">
                <a:solidFill>
                  <a:schemeClr val="dk1"/>
                </a:solidFill>
              </a:rPr>
              <a:t>/ </a:t>
            </a:r>
            <a:r>
              <a:rPr lang="en-US" sz="1900" b="1" dirty="0" err="1">
                <a:solidFill>
                  <a:schemeClr val="dk1"/>
                </a:solidFill>
              </a:rPr>
              <a:t>EasyOCR</a:t>
            </a:r>
            <a:r>
              <a:rPr lang="en-US" sz="1900" dirty="0">
                <a:solidFill>
                  <a:schemeClr val="dk1"/>
                </a:solidFill>
              </a:rPr>
              <a:t>) → Extract text from scanned PDFs/images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dk1"/>
                </a:solidFill>
              </a:rPr>
              <a:t>Datasets → Training &amp; evaluation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Frontend / UI</a:t>
            </a:r>
          </a:p>
          <a:p>
            <a:pPr lvl="1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 err="1">
                <a:solidFill>
                  <a:schemeClr val="dk1"/>
                </a:solidFill>
              </a:rPr>
              <a:t>Streamlit</a:t>
            </a:r>
            <a:r>
              <a:rPr lang="en-US" sz="1900" dirty="0">
                <a:solidFill>
                  <a:schemeClr val="dk1"/>
                </a:solidFill>
              </a:rPr>
              <a:t> → Simple dashboard</a:t>
            </a:r>
          </a:p>
          <a:p>
            <a:pPr lvl="1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 err="1">
                <a:solidFill>
                  <a:schemeClr val="dk1"/>
                </a:solidFill>
              </a:rPr>
              <a:t>TailwindCSS</a:t>
            </a:r>
            <a:r>
              <a:rPr lang="en-US" sz="1900" dirty="0">
                <a:solidFill>
                  <a:schemeClr val="dk1"/>
                </a:solidFill>
              </a:rPr>
              <a:t> </a:t>
            </a:r>
            <a:r>
              <a:rPr lang="en-US" sz="1900" b="1" dirty="0">
                <a:solidFill>
                  <a:schemeClr val="dk1"/>
                </a:solidFill>
              </a:rPr>
              <a:t>/ </a:t>
            </a:r>
            <a:r>
              <a:rPr lang="en-US" sz="1900" b="1" dirty="0" err="1">
                <a:solidFill>
                  <a:schemeClr val="dk1"/>
                </a:solidFill>
              </a:rPr>
              <a:t>ShadCN</a:t>
            </a:r>
            <a:r>
              <a:rPr lang="en-US" sz="1900" b="1" dirty="0">
                <a:solidFill>
                  <a:schemeClr val="dk1"/>
                </a:solidFill>
              </a:rPr>
              <a:t> </a:t>
            </a:r>
            <a:r>
              <a:rPr lang="en-US" sz="1900" dirty="0">
                <a:solidFill>
                  <a:schemeClr val="dk1"/>
                </a:solidFill>
              </a:rPr>
              <a:t>→ Clean and responsive design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Evaluation &amp; Logging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ROUGE</a:t>
            </a:r>
            <a:r>
              <a:rPr lang="en-US" sz="1900" dirty="0">
                <a:solidFill>
                  <a:schemeClr val="dk1"/>
                </a:solidFill>
              </a:rPr>
              <a:t>, </a:t>
            </a:r>
            <a:r>
              <a:rPr lang="en-US" sz="1900" b="1" dirty="0">
                <a:solidFill>
                  <a:schemeClr val="dk1"/>
                </a:solidFill>
              </a:rPr>
              <a:t>F1</a:t>
            </a:r>
            <a:r>
              <a:rPr lang="en-US" sz="1900" dirty="0">
                <a:solidFill>
                  <a:schemeClr val="dk1"/>
                </a:solidFill>
              </a:rPr>
              <a:t>, </a:t>
            </a:r>
            <a:r>
              <a:rPr lang="en-US" sz="1900" b="1" dirty="0">
                <a:solidFill>
                  <a:schemeClr val="dk1"/>
                </a:solidFill>
              </a:rPr>
              <a:t>Exact Match</a:t>
            </a:r>
            <a:r>
              <a:rPr lang="en-US" sz="1900" dirty="0">
                <a:solidFill>
                  <a:schemeClr val="dk1"/>
                </a:solidFill>
              </a:rPr>
              <a:t> (</a:t>
            </a:r>
            <a:r>
              <a:rPr lang="en-US" sz="1900" b="1" dirty="0">
                <a:solidFill>
                  <a:schemeClr val="dk1"/>
                </a:solidFill>
              </a:rPr>
              <a:t>EM</a:t>
            </a:r>
            <a:r>
              <a:rPr lang="en-US" sz="1900" dirty="0">
                <a:solidFill>
                  <a:schemeClr val="dk1"/>
                </a:solidFill>
              </a:rPr>
              <a:t>) → Performance metrics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Python logging module </a:t>
            </a:r>
            <a:r>
              <a:rPr lang="en-US" sz="1900" dirty="0">
                <a:solidFill>
                  <a:schemeClr val="dk1"/>
                </a:solidFill>
              </a:rPr>
              <a:t>→ Track model training &amp; user interactions</a:t>
            </a:r>
            <a:r>
              <a:rPr lang="en-IN" sz="1900" dirty="0">
                <a:solidFill>
                  <a:schemeClr val="dk1"/>
                </a:solidFill>
              </a:rPr>
              <a:t>.</a:t>
            </a:r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lang="en-IN" sz="1800" dirty="0">
              <a:solidFill>
                <a:srgbClr val="595959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B1A3FD-7375-BC79-FFC4-3A6ACC9289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610"/>
          <a:stretch>
            <a:fillRect/>
          </a:stretch>
        </p:blipFill>
        <p:spPr>
          <a:xfrm>
            <a:off x="111512" y="988742"/>
            <a:ext cx="8682862" cy="1716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F76AD4-F1C3-DF07-4F00-95AE044394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496"/>
          <a:stretch>
            <a:fillRect/>
          </a:stretch>
        </p:blipFill>
        <p:spPr>
          <a:xfrm>
            <a:off x="1" y="2734540"/>
            <a:ext cx="9144000" cy="14202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20C1EA-23FD-24BD-483C-C13540EC9C1B}"/>
              </a:ext>
            </a:extLst>
          </p:cNvPr>
          <p:cNvSpPr txBox="1"/>
          <p:nvPr/>
        </p:nvSpPr>
        <p:spPr>
          <a:xfrm>
            <a:off x="2226527" y="512487"/>
            <a:ext cx="45868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4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Flowchart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>
            <a:spLocks noGrp="1"/>
          </p:cNvSpPr>
          <p:nvPr>
            <p:ph type="body" idx="1"/>
          </p:nvPr>
        </p:nvSpPr>
        <p:spPr>
          <a:xfrm>
            <a:off x="222095" y="140252"/>
            <a:ext cx="8699810" cy="486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FEASIBILITY AND VIABILITY</a:t>
            </a:r>
          </a:p>
          <a:p>
            <a:pPr marL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9B9BEC-5F28-D378-90A8-EF0D85495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545247"/>
              </p:ext>
            </p:extLst>
          </p:nvPr>
        </p:nvGraphicFramePr>
        <p:xfrm>
          <a:off x="706581" y="845127"/>
          <a:ext cx="7682346" cy="392090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60782">
                  <a:extLst>
                    <a:ext uri="{9D8B030D-6E8A-4147-A177-3AD203B41FA5}">
                      <a16:colId xmlns:a16="http://schemas.microsoft.com/office/drawing/2014/main" val="569696265"/>
                    </a:ext>
                  </a:extLst>
                </a:gridCol>
                <a:gridCol w="2560782">
                  <a:extLst>
                    <a:ext uri="{9D8B030D-6E8A-4147-A177-3AD203B41FA5}">
                      <a16:colId xmlns:a16="http://schemas.microsoft.com/office/drawing/2014/main" val="3117634014"/>
                    </a:ext>
                  </a:extLst>
                </a:gridCol>
                <a:gridCol w="2560782">
                  <a:extLst>
                    <a:ext uri="{9D8B030D-6E8A-4147-A177-3AD203B41FA5}">
                      <a16:colId xmlns:a16="http://schemas.microsoft.com/office/drawing/2014/main" val="3252276287"/>
                    </a:ext>
                  </a:extLst>
                </a:gridCol>
              </a:tblGrid>
              <a:tr h="237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tillium Web" panose="00000500000000000000" pitchFamily="2" charset="0"/>
                        </a:rPr>
                        <a:t>Category</a:t>
                      </a:r>
                      <a:endParaRPr lang="en-IN" sz="1600" dirty="0">
                        <a:latin typeface="Titillium Web" panose="00000500000000000000" pitchFamily="2" charset="0"/>
                      </a:endParaRPr>
                    </a:p>
                  </a:txBody>
                  <a:tcPr marL="64444" marR="64444" marT="32222" marB="32222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tillium Web" panose="00000500000000000000" pitchFamily="2" charset="0"/>
                        </a:rPr>
                        <a:t>Feasibility</a:t>
                      </a:r>
                      <a:endParaRPr lang="en-IN" sz="1600">
                        <a:latin typeface="Titillium Web" panose="00000500000000000000" pitchFamily="2" charset="0"/>
                      </a:endParaRPr>
                    </a:p>
                  </a:txBody>
                  <a:tcPr marL="64444" marR="64444" marT="32222" marB="32222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tillium Web" panose="00000500000000000000" pitchFamily="2" charset="0"/>
                        </a:rPr>
                        <a:t>Viability</a:t>
                      </a:r>
                      <a:endParaRPr lang="en-IN" sz="1600" dirty="0">
                        <a:latin typeface="Titillium Web" panose="00000500000000000000" pitchFamily="2" charset="0"/>
                      </a:endParaRPr>
                    </a:p>
                  </a:txBody>
                  <a:tcPr marL="64444" marR="64444" marT="32222" marB="32222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35763"/>
                  </a:ext>
                </a:extLst>
              </a:tr>
              <a:tr h="90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tillium Web" panose="00000500000000000000" pitchFamily="2" charset="0"/>
                        </a:rPr>
                        <a:t>Technical</a:t>
                      </a:r>
                      <a:endParaRPr lang="en-IN" sz="1400" dirty="0">
                        <a:latin typeface="Titillium Web" panose="00000500000000000000" pitchFamily="2" charset="0"/>
                      </a:endParaRP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tillium Web" panose="00000500000000000000" pitchFamily="2" charset="0"/>
                        </a:rPr>
                        <a:t>Uses open-source frameworks (Hugging Face, LangChain, Streamlit) ensuring easy integration, customization, and scalability.</a:t>
                      </a: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tillium Web" panose="00000500000000000000" pitchFamily="2" charset="0"/>
                        </a:rPr>
                        <a:t>Highly adaptable for real-world deployment across government, NGOs, and research institutions.</a:t>
                      </a:r>
                    </a:p>
                  </a:txBody>
                  <a:tcPr marL="64444" marR="64444" marT="32222" marB="32222" anchor="ctr"/>
                </a:tc>
                <a:extLst>
                  <a:ext uri="{0D108BD9-81ED-4DB2-BD59-A6C34878D82A}">
                    <a16:rowId xmlns:a16="http://schemas.microsoft.com/office/drawing/2014/main" val="2070646611"/>
                  </a:ext>
                </a:extLst>
              </a:tr>
              <a:tr h="739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tillium Web" panose="00000500000000000000" pitchFamily="2" charset="0"/>
                        </a:rPr>
                        <a:t>Operational</a:t>
                      </a:r>
                      <a:endParaRPr lang="en-IN" sz="1400" dirty="0">
                        <a:latin typeface="Titillium Web" panose="00000500000000000000" pitchFamily="2" charset="0"/>
                      </a:endParaRP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tillium Web" panose="00000500000000000000" pitchFamily="2" charset="0"/>
                        </a:rPr>
                        <a:t>Simple and intuitive user interface with support for multiple document formats (PDF, image, text).</a:t>
                      </a: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tillium Web" panose="00000500000000000000" pitchFamily="2" charset="0"/>
                        </a:rPr>
                        <a:t>Can be used by non-technical users; reduces time and manual effort in document analysis.</a:t>
                      </a:r>
                    </a:p>
                  </a:txBody>
                  <a:tcPr marL="64444" marR="64444" marT="32222" marB="32222" anchor="ctr"/>
                </a:tc>
                <a:extLst>
                  <a:ext uri="{0D108BD9-81ED-4DB2-BD59-A6C34878D82A}">
                    <a16:rowId xmlns:a16="http://schemas.microsoft.com/office/drawing/2014/main" val="1151744974"/>
                  </a:ext>
                </a:extLst>
              </a:tr>
              <a:tr h="572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tillium Web" panose="00000500000000000000" pitchFamily="2" charset="0"/>
                        </a:rPr>
                        <a:t>Economic</a:t>
                      </a:r>
                      <a:endParaRPr lang="en-IN" sz="1400" dirty="0">
                        <a:latin typeface="Titillium Web" panose="00000500000000000000" pitchFamily="2" charset="0"/>
                      </a:endParaRP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tillium Web" panose="00000500000000000000" pitchFamily="2" charset="0"/>
                        </a:rPr>
                        <a:t>Low-cost development and deployment using open-source tools and cloud infrastructure.</a:t>
                      </a: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tillium Web" panose="00000500000000000000" pitchFamily="2" charset="0"/>
                        </a:rPr>
                        <a:t>Cost-effective maintenance and scalable for mass public access.</a:t>
                      </a:r>
                    </a:p>
                  </a:txBody>
                  <a:tcPr marL="64444" marR="64444" marT="32222" marB="32222" anchor="ctr"/>
                </a:tc>
                <a:extLst>
                  <a:ext uri="{0D108BD9-81ED-4DB2-BD59-A6C34878D82A}">
                    <a16:rowId xmlns:a16="http://schemas.microsoft.com/office/drawing/2014/main" val="2861074322"/>
                  </a:ext>
                </a:extLst>
              </a:tr>
              <a:tr h="739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tillium Web" panose="00000500000000000000" pitchFamily="2" charset="0"/>
                        </a:rPr>
                        <a:t>Legal &amp; Ethical</a:t>
                      </a:r>
                      <a:endParaRPr lang="en-IN" sz="1400" dirty="0">
                        <a:latin typeface="Titillium Web" panose="00000500000000000000" pitchFamily="2" charset="0"/>
                      </a:endParaRP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tillium Web" panose="00000500000000000000" pitchFamily="2" charset="0"/>
                        </a:rPr>
                        <a:t>Follows transparent AI principles; uses publicly available datasets for training and testing.</a:t>
                      </a: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tillium Web" panose="00000500000000000000" pitchFamily="2" charset="0"/>
                        </a:rPr>
                        <a:t>Supports ethical AI use by promoting policy transparency and inclusivity.</a:t>
                      </a:r>
                    </a:p>
                  </a:txBody>
                  <a:tcPr marL="64444" marR="64444" marT="32222" marB="32222" anchor="ctr"/>
                </a:tc>
                <a:extLst>
                  <a:ext uri="{0D108BD9-81ED-4DB2-BD59-A6C34878D82A}">
                    <a16:rowId xmlns:a16="http://schemas.microsoft.com/office/drawing/2014/main" val="4136840296"/>
                  </a:ext>
                </a:extLst>
              </a:tr>
              <a:tr h="572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tillium Web" panose="00000500000000000000" pitchFamily="2" charset="0"/>
                        </a:rPr>
                        <a:t>Social</a:t>
                      </a:r>
                      <a:endParaRPr lang="en-IN" sz="1400" dirty="0">
                        <a:latin typeface="Titillium Web" panose="00000500000000000000" pitchFamily="2" charset="0"/>
                      </a:endParaRP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tillium Web" panose="00000500000000000000" pitchFamily="2" charset="0"/>
                        </a:rPr>
                        <a:t>Improves citizen accessibility and engagement with government policies.</a:t>
                      </a: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tillium Web" panose="00000500000000000000" pitchFamily="2" charset="0"/>
                        </a:rPr>
                        <a:t>Promotes informed decision-making and public trust in governance systems.</a:t>
                      </a:r>
                    </a:p>
                  </a:txBody>
                  <a:tcPr marL="64444" marR="64444" marT="32222" marB="32222" anchor="ctr"/>
                </a:tc>
                <a:extLst>
                  <a:ext uri="{0D108BD9-81ED-4DB2-BD59-A6C34878D82A}">
                    <a16:rowId xmlns:a16="http://schemas.microsoft.com/office/drawing/2014/main" val="35290259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BB65C4DC-C0F8-5BDD-B59C-ADD3573D6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E62A8B1E-094C-16D9-7661-3CB5492D0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2095" y="140252"/>
            <a:ext cx="8699810" cy="486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IMPACTS AND BENEFITS</a:t>
            </a:r>
          </a:p>
          <a:p>
            <a:pPr marL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sz="2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173648-4242-8BB3-D437-BE68B9136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783021"/>
              </p:ext>
            </p:extLst>
          </p:nvPr>
        </p:nvGraphicFramePr>
        <p:xfrm>
          <a:off x="602673" y="831272"/>
          <a:ext cx="7834746" cy="394854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611582">
                  <a:extLst>
                    <a:ext uri="{9D8B030D-6E8A-4147-A177-3AD203B41FA5}">
                      <a16:colId xmlns:a16="http://schemas.microsoft.com/office/drawing/2014/main" val="813582792"/>
                    </a:ext>
                  </a:extLst>
                </a:gridCol>
                <a:gridCol w="2611582">
                  <a:extLst>
                    <a:ext uri="{9D8B030D-6E8A-4147-A177-3AD203B41FA5}">
                      <a16:colId xmlns:a16="http://schemas.microsoft.com/office/drawing/2014/main" val="2506183678"/>
                    </a:ext>
                  </a:extLst>
                </a:gridCol>
                <a:gridCol w="2611582">
                  <a:extLst>
                    <a:ext uri="{9D8B030D-6E8A-4147-A177-3AD203B41FA5}">
                      <a16:colId xmlns:a16="http://schemas.microsoft.com/office/drawing/2014/main" val="2860827467"/>
                    </a:ext>
                  </a:extLst>
                </a:gridCol>
              </a:tblGrid>
              <a:tr h="303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tillium Web" panose="00000500000000000000" pitchFamily="2" charset="0"/>
                        </a:rPr>
                        <a:t>Category</a:t>
                      </a:r>
                      <a:endParaRPr lang="en-IN" sz="1400" dirty="0">
                        <a:latin typeface="Titillium Web" panose="00000500000000000000" pitchFamily="2" charset="0"/>
                      </a:endParaRPr>
                    </a:p>
                  </a:txBody>
                  <a:tcPr marL="78325" marR="78325" marT="39162" marB="39162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tillium Web" panose="00000500000000000000" pitchFamily="2" charset="0"/>
                        </a:rPr>
                        <a:t>Impact</a:t>
                      </a:r>
                      <a:endParaRPr lang="en-IN" sz="1400">
                        <a:latin typeface="Titillium Web" panose="00000500000000000000" pitchFamily="2" charset="0"/>
                      </a:endParaRPr>
                    </a:p>
                  </a:txBody>
                  <a:tcPr marL="78325" marR="78325" marT="39162" marB="39162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tillium Web" panose="00000500000000000000" pitchFamily="2" charset="0"/>
                        </a:rPr>
                        <a:t>Benefits</a:t>
                      </a:r>
                      <a:endParaRPr lang="en-IN" sz="1400" dirty="0">
                        <a:latin typeface="Titillium Web" panose="00000500000000000000" pitchFamily="2" charset="0"/>
                      </a:endParaRPr>
                    </a:p>
                  </a:txBody>
                  <a:tcPr marL="78325" marR="78325" marT="39162" marB="39162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196328"/>
                  </a:ext>
                </a:extLst>
              </a:tr>
              <a:tr h="941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tillium Web" panose="00000500000000000000" pitchFamily="2" charset="0"/>
                        </a:rPr>
                        <a:t>Citizens</a:t>
                      </a:r>
                      <a:endParaRPr lang="en-IN" sz="1400">
                        <a:latin typeface="Titillium Web" panose="00000500000000000000" pitchFamily="2" charset="0"/>
                      </a:endParaRP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tillium Web" panose="00000500000000000000" pitchFamily="2" charset="0"/>
                        </a:rPr>
                        <a:t>Gain easy access to simplified versions of complex government policies and legal documents.</a:t>
                      </a: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tillium Web" panose="00000500000000000000" pitchFamily="2" charset="0"/>
                        </a:rPr>
                        <a:t>Improved understanding of rights, schemes, and laws; promotes inclusivity and awareness.</a:t>
                      </a:r>
                    </a:p>
                  </a:txBody>
                  <a:tcPr marL="78325" marR="78325" marT="39162" marB="39162" anchor="ctr"/>
                </a:tc>
                <a:extLst>
                  <a:ext uri="{0D108BD9-81ED-4DB2-BD59-A6C34878D82A}">
                    <a16:rowId xmlns:a16="http://schemas.microsoft.com/office/drawing/2014/main" val="1623786097"/>
                  </a:ext>
                </a:extLst>
              </a:tr>
              <a:tr h="728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tillium Web" panose="00000500000000000000" pitchFamily="2" charset="0"/>
                        </a:rPr>
                        <a:t>Government &amp; Policy Makers</a:t>
                      </a:r>
                      <a:endParaRPr lang="en-IN" sz="1400">
                        <a:latin typeface="Titillium Web" panose="00000500000000000000" pitchFamily="2" charset="0"/>
                      </a:endParaRP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tillium Web" panose="00000500000000000000" pitchFamily="2" charset="0"/>
                        </a:rPr>
                        <a:t>Enhanced transparency and communication with the public.</a:t>
                      </a: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tillium Web" panose="00000500000000000000" pitchFamily="2" charset="0"/>
                        </a:rPr>
                        <a:t>Builds trust, ensures clarity in governance, and supports citizen engagement.</a:t>
                      </a:r>
                    </a:p>
                  </a:txBody>
                  <a:tcPr marL="78325" marR="78325" marT="39162" marB="39162" anchor="ctr"/>
                </a:tc>
                <a:extLst>
                  <a:ext uri="{0D108BD9-81ED-4DB2-BD59-A6C34878D82A}">
                    <a16:rowId xmlns:a16="http://schemas.microsoft.com/office/drawing/2014/main" val="3638496038"/>
                  </a:ext>
                </a:extLst>
              </a:tr>
              <a:tr h="728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tillium Web" panose="00000500000000000000" pitchFamily="2" charset="0"/>
                        </a:rPr>
                        <a:t>Researchers &amp; NGOs</a:t>
                      </a:r>
                      <a:endParaRPr lang="en-IN" sz="1400">
                        <a:latin typeface="Titillium Web" panose="00000500000000000000" pitchFamily="2" charset="0"/>
                      </a:endParaRP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tillium Web" panose="00000500000000000000" pitchFamily="2" charset="0"/>
                        </a:rPr>
                        <a:t>Faster access to policy data and insights for analysis and advocacy.</a:t>
                      </a: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tillium Web" panose="00000500000000000000" pitchFamily="2" charset="0"/>
                        </a:rPr>
                        <a:t>Saves time and resources; supports informed decision-making.</a:t>
                      </a:r>
                    </a:p>
                  </a:txBody>
                  <a:tcPr marL="78325" marR="78325" marT="39162" marB="39162" anchor="ctr"/>
                </a:tc>
                <a:extLst>
                  <a:ext uri="{0D108BD9-81ED-4DB2-BD59-A6C34878D82A}">
                    <a16:rowId xmlns:a16="http://schemas.microsoft.com/office/drawing/2014/main" val="1378303633"/>
                  </a:ext>
                </a:extLst>
              </a:tr>
              <a:tr h="516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tillium Web" panose="00000500000000000000" pitchFamily="2" charset="0"/>
                        </a:rPr>
                        <a:t>Legal Professionals</a:t>
                      </a:r>
                      <a:endParaRPr lang="en-IN" sz="1400">
                        <a:latin typeface="Titillium Web" panose="00000500000000000000" pitchFamily="2" charset="0"/>
                      </a:endParaRP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tillium Web" panose="00000500000000000000" pitchFamily="2" charset="0"/>
                        </a:rPr>
                        <a:t>Reduces time spent reviewing lengthy documents manually.</a:t>
                      </a: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tillium Web" panose="00000500000000000000" pitchFamily="2" charset="0"/>
                        </a:rPr>
                        <a:t>Increases productivity and efficiency in legal analysis.</a:t>
                      </a:r>
                    </a:p>
                  </a:txBody>
                  <a:tcPr marL="78325" marR="78325" marT="39162" marB="39162" anchor="ctr"/>
                </a:tc>
                <a:extLst>
                  <a:ext uri="{0D108BD9-81ED-4DB2-BD59-A6C34878D82A}">
                    <a16:rowId xmlns:a16="http://schemas.microsoft.com/office/drawing/2014/main" val="3991557799"/>
                  </a:ext>
                </a:extLst>
              </a:tr>
              <a:tr h="728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tillium Web" panose="00000500000000000000" pitchFamily="2" charset="0"/>
                        </a:rPr>
                        <a:t>Society at Large</a:t>
                      </a:r>
                      <a:endParaRPr lang="en-IN" sz="1400">
                        <a:latin typeface="Titillium Web" panose="00000500000000000000" pitchFamily="2" charset="0"/>
                      </a:endParaRP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tillium Web" panose="00000500000000000000" pitchFamily="2" charset="0"/>
                        </a:rPr>
                        <a:t>Bridges the gap between governance and the public through accessible AI tools.</a:t>
                      </a: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tillium Web" panose="00000500000000000000" pitchFamily="2" charset="0"/>
                        </a:rPr>
                        <a:t>Encourages digital literacy, accountability, and participatory governance.</a:t>
                      </a:r>
                    </a:p>
                  </a:txBody>
                  <a:tcPr marL="78325" marR="78325" marT="39162" marB="39162" anchor="ctr"/>
                </a:tc>
                <a:extLst>
                  <a:ext uri="{0D108BD9-81ED-4DB2-BD59-A6C34878D82A}">
                    <a16:rowId xmlns:a16="http://schemas.microsoft.com/office/drawing/2014/main" val="3669297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876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9;p23">
            <a:extLst>
              <a:ext uri="{FF2B5EF4-FFF2-40B4-BE49-F238E27FC236}">
                <a16:creationId xmlns:a16="http://schemas.microsoft.com/office/drawing/2014/main" id="{8D68E106-3EE0-C05E-4C17-3D0E8481D7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3914" y="228599"/>
            <a:ext cx="8456172" cy="533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Literature Review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lang="en-US" sz="1400" b="1" dirty="0">
              <a:solidFill>
                <a:srgbClr val="00206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101600" indent="0">
              <a:buNone/>
            </a:pPr>
            <a:endParaRPr lang="en-IN" sz="900" dirty="0">
              <a:solidFill>
                <a:schemeClr val="tx1"/>
              </a:solidFill>
            </a:endParaRPr>
          </a:p>
          <a:p>
            <a:pPr marL="101600" indent="0">
              <a:buNone/>
            </a:pPr>
            <a:endParaRPr lang="en-IN" sz="900" dirty="0"/>
          </a:p>
          <a:p>
            <a:endParaRPr lang="en-IN" sz="1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sz="1800" dirty="0">
              <a:solidFill>
                <a:srgbClr val="595959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65153D-B18D-FDA6-161A-82C9D7846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273088"/>
              </p:ext>
            </p:extLst>
          </p:nvPr>
        </p:nvGraphicFramePr>
        <p:xfrm>
          <a:off x="455976" y="671945"/>
          <a:ext cx="8232048" cy="4253435"/>
        </p:xfrm>
        <a:graphic>
          <a:graphicData uri="http://schemas.openxmlformats.org/drawingml/2006/table">
            <a:tbl>
              <a:tblPr/>
              <a:tblGrid>
                <a:gridCol w="1525224">
                  <a:extLst>
                    <a:ext uri="{9D8B030D-6E8A-4147-A177-3AD203B41FA5}">
                      <a16:colId xmlns:a16="http://schemas.microsoft.com/office/drawing/2014/main" val="1313554700"/>
                    </a:ext>
                  </a:extLst>
                </a:gridCol>
                <a:gridCol w="1363532">
                  <a:extLst>
                    <a:ext uri="{9D8B030D-6E8A-4147-A177-3AD203B41FA5}">
                      <a16:colId xmlns:a16="http://schemas.microsoft.com/office/drawing/2014/main" val="4283255083"/>
                    </a:ext>
                  </a:extLst>
                </a:gridCol>
                <a:gridCol w="1335823">
                  <a:extLst>
                    <a:ext uri="{9D8B030D-6E8A-4147-A177-3AD203B41FA5}">
                      <a16:colId xmlns:a16="http://schemas.microsoft.com/office/drawing/2014/main" val="2223034091"/>
                    </a:ext>
                  </a:extLst>
                </a:gridCol>
                <a:gridCol w="1335823">
                  <a:extLst>
                    <a:ext uri="{9D8B030D-6E8A-4147-A177-3AD203B41FA5}">
                      <a16:colId xmlns:a16="http://schemas.microsoft.com/office/drawing/2014/main" val="2706178440"/>
                    </a:ext>
                  </a:extLst>
                </a:gridCol>
                <a:gridCol w="1335823">
                  <a:extLst>
                    <a:ext uri="{9D8B030D-6E8A-4147-A177-3AD203B41FA5}">
                      <a16:colId xmlns:a16="http://schemas.microsoft.com/office/drawing/2014/main" val="1900980038"/>
                    </a:ext>
                  </a:extLst>
                </a:gridCol>
                <a:gridCol w="1335823">
                  <a:extLst>
                    <a:ext uri="{9D8B030D-6E8A-4147-A177-3AD203B41FA5}">
                      <a16:colId xmlns:a16="http://schemas.microsoft.com/office/drawing/2014/main" val="1628192257"/>
                    </a:ext>
                  </a:extLst>
                </a:gridCol>
              </a:tblGrid>
              <a:tr h="425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Reference/Source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Techniques Used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Features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Limitations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Target Audience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Data Source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537349"/>
                  </a:ext>
                </a:extLst>
              </a:tr>
              <a:tr h="9974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/>
                        <a:t>Legal-BERT:</a:t>
                      </a:r>
                    </a:p>
                    <a:p>
                      <a:pPr algn="ctr">
                        <a:buNone/>
                      </a:pPr>
                      <a:r>
                        <a:rPr lang="en-US" sz="1300" b="1" dirty="0"/>
                        <a:t> Pre-trained Models for Legal NLP (ACL, 2020)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Transformer-based NLP, BERT fine-tuning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High accuracy in understanding legal text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Requires large GPU resources and fine-tuning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Researchers, legal AI developers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Legal case datasets, EU legislation corpus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050049"/>
                  </a:ext>
                </a:extLst>
              </a:tr>
              <a:tr h="9875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CUAD: Contract Understanding Atticus Dataset (</a:t>
                      </a:r>
                      <a:r>
                        <a:rPr lang="en-IN" sz="1300" b="1" dirty="0" err="1"/>
                        <a:t>arXiv</a:t>
                      </a:r>
                      <a:r>
                        <a:rPr lang="en-IN" sz="1300" b="1" dirty="0"/>
                        <a:t>, 2021)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QA models, annotation techniques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First large-scale dataset for legal contracts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/>
                        <a:t>Focused only on contracts, not all policies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Law firms, contract reviewers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/>
                        <a:t>500+ real contracts with annotations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414344"/>
                  </a:ext>
                </a:extLst>
              </a:tr>
              <a:tr h="9875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/>
                        <a:t>Doc2Policy: Legal Document Summarization (Springer, 2022)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Text summarization (extractive + abstractive)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Generates concise legal summaries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Summaries may lose context/nuances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Citizens, NGOs, policy analysts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Public policy documents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479785"/>
                  </a:ext>
                </a:extLst>
              </a:tr>
              <a:tr h="830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Multilingual Legal Summarization (Elsevier, 2024)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mBERT, MT5, translation + summarization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Provides summaries in multiple languages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Dependent on translation quality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Citizens, international NGOs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Multilingual legislation datasets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429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17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>
            <a:spLocks noGrp="1"/>
          </p:cNvSpPr>
          <p:nvPr>
            <p:ph type="body" idx="1"/>
          </p:nvPr>
        </p:nvSpPr>
        <p:spPr>
          <a:xfrm>
            <a:off x="343914" y="228599"/>
            <a:ext cx="8456172" cy="533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References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lang="en-US" sz="1400" b="1" dirty="0">
              <a:solidFill>
                <a:srgbClr val="00206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101600" indent="0">
              <a:buNone/>
            </a:pPr>
            <a:endParaRPr lang="en-IN" sz="900" dirty="0">
              <a:solidFill>
                <a:schemeClr val="tx1"/>
              </a:solidFill>
            </a:endParaRPr>
          </a:p>
          <a:p>
            <a:pPr marL="101600" indent="0">
              <a:buNone/>
            </a:pPr>
            <a:endParaRPr lang="en-IN" sz="900" dirty="0"/>
          </a:p>
          <a:p>
            <a:endParaRPr lang="en-IN" sz="1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sz="1800" dirty="0">
              <a:solidFill>
                <a:srgbClr val="595959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0D2676-E80E-E4B0-D97A-60828D8B96F9}"/>
              </a:ext>
            </a:extLst>
          </p:cNvPr>
          <p:cNvSpPr txBox="1"/>
          <p:nvPr/>
        </p:nvSpPr>
        <p:spPr>
          <a:xfrm>
            <a:off x="428266" y="921327"/>
            <a:ext cx="8287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042F886-8DF1-269D-3E8A-16AE3F2B9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266" y="762000"/>
            <a:ext cx="828746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Hendrycks, D., Burns, C., Basart, S., Zou, A., Mazeika, M., Song, D., &amp; Steinhardt, J. (2021).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CUAD: An Expert-Annotated NLP Dataset for Legal Contract Review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arXiv:2103.06268.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https://arxiv.org/abs/2103.06268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Ravichander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A., Black, A. W., Wilson, S., &amp; Neubig, G. (2019).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 Answering for Privacy Policies: Combining Computational and Legal Perspectives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In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NAACL-HLT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(pp. 494–510).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https://doi.org/10.18653/v1/N19-1050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Kornilova, A., &amp; Eidelman, V. (2019).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BillSum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Corpus for Automatic Summarization of US Legislation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arXiv:1910.00523.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https://arxiv.org/abs/1910.00523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Devlin, J., Chang, M. W., Lee, K., &amp; Toutanova, K. (2019).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BERT: Pre-training of Deep Bidirectional Transformers for Language Understanding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In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NAACL-HLT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(pp. 4171–4186).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https://doi.org/10.18653/v1/N19-1423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Liu, Y., Ott, M., Goyal, N., Du, J., Joshi, M., Chen, D., … Stoyanov, V. (2019).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RoBERTa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Robustly Optimized BERT Pretraining Approach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arXiv:1907.11692.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https://arxiv.org/abs/1907.11692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Beltagy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I., Peters, M. E., &amp; Cohan, A. (2020).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Longformer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Long-Document Transformer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arXiv:2004.05150.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https://arxiv.org/abs/2004.05150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Lewis, M., Liu, Y., Goyal, N.,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Ghazvininejad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M., Mohamed, A., … Zettlemoyer, L. (2020).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BART: Denoising Sequence-to-Sequence Pre-training for Natural Language Generation, Translation, and Comprehension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In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ACL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(pp. 7871–7880).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https://doi.org/10.18653/v1/2020.acl-main.703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Raffel, C.,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Shazeer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N., Roberts, A., Lee, K., Narang, S., … Liu, P. J. (2020).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Exploring the Limits of Transfer Learning with a Unified Text-to-Text Transformer (T5)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JMLR, 21(140), 1–67.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https://jmlr.org/papers/v21/20-074.html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OpenAI. (2023).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GPT-4 Technical Report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arXiv:2303.08774.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https://arxiv.org/abs/2303.08774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Hugging Face. (2023).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Transformers: State-of-the-art Natural Language Processing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https://huggingface.co/transformers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>
            <a:spLocks noGrp="1"/>
          </p:cNvSpPr>
          <p:nvPr>
            <p:ph type="body" idx="1"/>
          </p:nvPr>
        </p:nvSpPr>
        <p:spPr>
          <a:xfrm>
            <a:off x="1187147" y="1847272"/>
            <a:ext cx="6769705" cy="2896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800"/>
              <a:buNone/>
            </a:pPr>
            <a:r>
              <a:rPr lang="en-US" sz="4800" b="1" dirty="0"/>
              <a:t>Thank You</a:t>
            </a:r>
            <a:endParaRPr sz="48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bit">
  <a:themeElements>
    <a:clrScheme name="Orbit">
      <a:dk1>
        <a:srgbClr val="000000"/>
      </a:dk1>
      <a:lt1>
        <a:srgbClr val="FFFFFF"/>
      </a:lt1>
      <a:dk2>
        <a:srgbClr val="323232"/>
      </a:dk2>
      <a:lt2>
        <a:srgbClr val="F0F0F0"/>
      </a:lt2>
      <a:accent1>
        <a:srgbClr val="22A8C4"/>
      </a:accent1>
      <a:accent2>
        <a:srgbClr val="86CB21"/>
      </a:accent2>
      <a:accent3>
        <a:srgbClr val="E7C21F"/>
      </a:accent3>
      <a:accent4>
        <a:srgbClr val="E77E26"/>
      </a:accent4>
      <a:accent5>
        <a:srgbClr val="E64773"/>
      </a:accent5>
      <a:accent6>
        <a:srgbClr val="8D5FA7"/>
      </a:accent6>
      <a:hlink>
        <a:srgbClr val="22A8C4"/>
      </a:hlink>
      <a:folHlink>
        <a:srgbClr val="8D5F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bit">
  <a:themeElements>
    <a:clrScheme name="Orbit">
      <a:dk1>
        <a:srgbClr val="000000"/>
      </a:dk1>
      <a:lt1>
        <a:srgbClr val="FFFFFF"/>
      </a:lt1>
      <a:dk2>
        <a:srgbClr val="323232"/>
      </a:dk2>
      <a:lt2>
        <a:srgbClr val="F0F0F0"/>
      </a:lt2>
      <a:accent1>
        <a:srgbClr val="22A8C4"/>
      </a:accent1>
      <a:accent2>
        <a:srgbClr val="86CB21"/>
      </a:accent2>
      <a:accent3>
        <a:srgbClr val="E7C21F"/>
      </a:accent3>
      <a:accent4>
        <a:srgbClr val="E77E26"/>
      </a:accent4>
      <a:accent5>
        <a:srgbClr val="E64773"/>
      </a:accent5>
      <a:accent6>
        <a:srgbClr val="8D5FA7"/>
      </a:accent6>
      <a:hlink>
        <a:srgbClr val="22A8C4"/>
      </a:hlink>
      <a:folHlink>
        <a:srgbClr val="8D5F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1291</Words>
  <Application>Microsoft Office PowerPoint</Application>
  <PresentationFormat>On-screen Show (16:9)</PresentationFormat>
  <Paragraphs>153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Titillium Web</vt:lpstr>
      <vt:lpstr>Lustria</vt:lpstr>
      <vt:lpstr>Courier New</vt:lpstr>
      <vt:lpstr>Arial</vt:lpstr>
      <vt:lpstr>Orbit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Sanidhya Jain</dc:creator>
  <cp:lastModifiedBy>Sanidhya Jain</cp:lastModifiedBy>
  <cp:revision>6</cp:revision>
  <dcterms:modified xsi:type="dcterms:W3CDTF">2025-10-30T18:53:13Z</dcterms:modified>
</cp:coreProperties>
</file>